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21240" y="164592"/>
            <a:ext cx="2057400" cy="566928"/>
          </a:xfrm>
          <a:prstGeom prst="roundRect">
            <a:avLst/>
          </a:prstGeom>
          <a:solidFill>
            <a:srgbClr val="E6F0FA"/>
          </a:solidFill>
          <a:ln>
            <a:solidFill>
              <a:srgbClr val="0B4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4C8F"/>
                </a:solidFill>
              </a:defRPr>
            </a:pPr>
            <a:r>
              <a:t>Montra Electric</a:t>
            </a:r>
          </a:p>
          <a:p>
            <a:r>
              <a:t>Logo Placeholder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93268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B4C8F"/>
                </a:solidFill>
              </a:defRPr>
            </a:pPr>
            <a:r>
              <a:t>Warranty Prediction System - Montra Electric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1089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Key takeaway: Focus on proactive claim prevention and budget visibility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12529"/>
                </a:solidFill>
              </a:defRPr>
            </a:pPr>
            <a:r>
              <a:t>• Two goals: 3-month claim risk + 12-month cost forecast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• Dataset: 11,510 claims, 6,733 vehicles, 40 features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• Value: proactive risk mitigation, cost control, resource planning</a:t>
            </a:r>
          </a:p>
        </p:txBody>
      </p:sp>
      <p:pic>
        <p:nvPicPr>
          <p:cNvPr id="7" name="Picture 6" descr="slide1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82496"/>
            <a:ext cx="553212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21240" y="164592"/>
            <a:ext cx="2057400" cy="566928"/>
          </a:xfrm>
          <a:prstGeom prst="roundRect">
            <a:avLst/>
          </a:prstGeom>
          <a:solidFill>
            <a:srgbClr val="E6F0FA"/>
          </a:solidFill>
          <a:ln>
            <a:solidFill>
              <a:srgbClr val="0B4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4C8F"/>
                </a:solidFill>
              </a:defRPr>
            </a:pPr>
            <a:r>
              <a:t>Montra Electric</a:t>
            </a:r>
          </a:p>
          <a:p>
            <a:r>
              <a:t>Logo Placeholder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93268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B4C8F"/>
                </a:solidFill>
              </a:defRPr>
            </a:pPr>
            <a:r>
              <a:t>Understanding the Data: From Raw to Analysis-Ready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1089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Key takeaway: Reliable integrated dataset for analytics and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12529"/>
                </a:solidFill>
              </a:defRPr>
            </a:pPr>
            <a:r>
              <a:t>• Integrated claims, vehicles, components, dealer, and environment data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• Cleaning: null handling, duplicate checks, and date-rule validation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• Feature engineering: temporal, usage intensity, repeat-claim signals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• Final set: 11,510 rows × 40 features</a:t>
            </a:r>
          </a:p>
        </p:txBody>
      </p:sp>
      <p:pic>
        <p:nvPicPr>
          <p:cNvPr id="7" name="Picture 6" descr="slide2_data_pr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82496"/>
            <a:ext cx="553212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21240" y="164592"/>
            <a:ext cx="2057400" cy="566928"/>
          </a:xfrm>
          <a:prstGeom prst="roundRect">
            <a:avLst/>
          </a:prstGeom>
          <a:solidFill>
            <a:srgbClr val="E6F0FA"/>
          </a:solidFill>
          <a:ln>
            <a:solidFill>
              <a:srgbClr val="0B4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4C8F"/>
                </a:solidFill>
              </a:defRPr>
            </a:pPr>
            <a:r>
              <a:t>Montra Electric</a:t>
            </a:r>
          </a:p>
          <a:p>
            <a:r>
              <a:t>Logo Placeholder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93268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B4C8F"/>
                </a:solidFill>
              </a:defRPr>
            </a:pPr>
            <a:r>
              <a:t>Data Exploration Reveals Critical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1089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Key takeaway: Warranty risk is concentrated by variant, season, and zone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12529"/>
                </a:solidFill>
              </a:defRPr>
            </a:pPr>
            <a:r>
              <a:t>• Highest claim-intensity variants: TrioX-Cargo, TrioX-Lite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• Subsystem concentration: Powertrain (4,774 claims)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• Seasonality peak: Monsoon (34.0% of claims)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• Zone hotspot: South (3,958 claims)</a:t>
            </a:r>
          </a:p>
        </p:txBody>
      </p:sp>
      <p:pic>
        <p:nvPicPr>
          <p:cNvPr id="7" name="Picture 6" descr="slide3_e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82496"/>
            <a:ext cx="553212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21240" y="164592"/>
            <a:ext cx="2057400" cy="566928"/>
          </a:xfrm>
          <a:prstGeom prst="roundRect">
            <a:avLst/>
          </a:prstGeom>
          <a:solidFill>
            <a:srgbClr val="E6F0FA"/>
          </a:solidFill>
          <a:ln>
            <a:solidFill>
              <a:srgbClr val="0B4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4C8F"/>
                </a:solidFill>
              </a:defRPr>
            </a:pPr>
            <a:r>
              <a:t>Montra Electric</a:t>
            </a:r>
          </a:p>
          <a:p>
            <a:r>
              <a:t>Logo Placeholder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93268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B4C8F"/>
                </a:solidFill>
              </a:defRPr>
            </a:pPr>
            <a:r>
              <a:t>Technical Solution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1089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Key takeaway: Two-pronged modeling balances explainability and forecasting power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12529"/>
                </a:solidFill>
              </a:defRPr>
            </a:pPr>
            <a:r>
              <a:t>• Problem 1: XGBoost classifier for 3-month claim likelihood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• Problem 2: Prophet + ARIMA ensemble for monthly cost forecast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• Inputs: vehicle profile, usage, history, environment, subsystem signals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• Metrics: Precision, Recall, F1, ROC-AUC, RMSE, MAE, MAPE</a:t>
            </a:r>
          </a:p>
        </p:txBody>
      </p:sp>
      <p:pic>
        <p:nvPicPr>
          <p:cNvPr id="7" name="Picture 6" descr="slide4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82496"/>
            <a:ext cx="553212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21240" y="164592"/>
            <a:ext cx="2057400" cy="566928"/>
          </a:xfrm>
          <a:prstGeom prst="roundRect">
            <a:avLst/>
          </a:prstGeom>
          <a:solidFill>
            <a:srgbClr val="E6F0FA"/>
          </a:solidFill>
          <a:ln>
            <a:solidFill>
              <a:srgbClr val="0B4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4C8F"/>
                </a:solidFill>
              </a:defRPr>
            </a:pPr>
            <a:r>
              <a:t>Montra Electric</a:t>
            </a:r>
          </a:p>
          <a:p>
            <a:r>
              <a:t>Logo Placeholder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93268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B4C8F"/>
                </a:solidFill>
              </a:defRPr>
            </a:pPr>
            <a:r>
              <a:t>Actionable Solutions &amp; Key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1089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Key takeaway: Baseline outputs are actionable and ready for iterative improvement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12529"/>
                </a:solidFill>
              </a:defRPr>
            </a:pPr>
            <a:r>
              <a:t>• XGBoost baseline: test accuracy 77.8%, ROC-AUC 0.58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• Risk split: High 4.5% | Medium 30.4% | Low 65.1%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• Prophet+ARIMA: RMSE ₹189,454, MAE ₹175,817, MAPE 88.9%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• 12-month projected cost (top variants): ₹107.4 lakhs</a:t>
            </a:r>
          </a:p>
        </p:txBody>
      </p:sp>
      <p:pic>
        <p:nvPicPr>
          <p:cNvPr id="7" name="Picture 6" descr="slide5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82496"/>
            <a:ext cx="553212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21240" y="164592"/>
            <a:ext cx="2057400" cy="566928"/>
          </a:xfrm>
          <a:prstGeom prst="roundRect">
            <a:avLst/>
          </a:prstGeom>
          <a:solidFill>
            <a:srgbClr val="E6F0FA"/>
          </a:solidFill>
          <a:ln>
            <a:solidFill>
              <a:srgbClr val="0B4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4C8F"/>
                </a:solidFill>
              </a:defRPr>
            </a:pPr>
            <a:r>
              <a:t>Montra Electric</a:t>
            </a:r>
          </a:p>
          <a:p>
            <a:r>
              <a:t>Logo Placeholder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93268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B4C8F"/>
                </a:solidFill>
              </a:defRPr>
            </a:pPr>
            <a:r>
              <a:t>Strategic Recommendations &amp; Implementation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1089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Key takeaway: Phased execution converts analytics into measurable business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12529"/>
                </a:solidFill>
              </a:defRPr>
            </a:pPr>
            <a:r>
              <a:t>• Month 1: deploy high-risk triage and forecast dashboard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• Q1-Q2: variant root-cause actions and zone-wise service optimization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• Q3-Q4: predictive maintenance and spare-part pre-positioning</a:t>
            </a:r>
          </a:p>
          <a:p>
            <a:pPr>
              <a:defRPr sz="2400">
                <a:solidFill>
                  <a:srgbClr val="212529"/>
                </a:solidFill>
              </a:defRPr>
            </a:pPr>
            <a:r>
              <a:t>• KPIs: prediction lift, MAPE reduction, cost reduction, service score uplift</a:t>
            </a:r>
          </a:p>
        </p:txBody>
      </p:sp>
      <p:pic>
        <p:nvPicPr>
          <p:cNvPr id="7" name="Picture 6" descr="slide6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82496"/>
            <a:ext cx="5532120" cy="4343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